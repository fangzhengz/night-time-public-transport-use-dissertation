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9144000"/>
  <p:notesSz cx="91440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65760" y="50292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RQ1: Night-time Usage Typology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Temporal, directional and day-type patterns; Rail vs Bus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406640" y="502920"/>
            <a:ext cx="685800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RQ2: Socio-spatial Embedding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with LNWC and area-level context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600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CONTEXTUAL DATA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NUMBAT 2024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Entries / exits, 15-min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72968" y="192024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Activity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BUSTO 2024/25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Boardings / alightings, 15-min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80176" y="192024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Night-Work Geography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LNWC (Mavrogeni et al., 2025)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787384" y="192024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Socio-economic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Census 2021 + IoD2025, 18 variables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594592" y="192024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POI: facility intensity + diversity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700784" y="288036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507992" y="288036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315200" y="288036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122408" y="288036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929616" y="288036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700784" y="3003804"/>
            <a:ext cx="11228832" cy="0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003804"/>
            <a:ext cx="0" cy="150876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365760" y="31546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CONSTRUCTION AND SPATIAL LINKAGE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5760" y="347472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 Analytical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stations, NaPTAN-matched, co-located NLCs merged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172968" y="347472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Analytical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3,383 LSOAs, StopArea-consolidated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0176" y="347472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Direction-specific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both modes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787384" y="347472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CLR Transform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Compositional correction (Rail retains raw share)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594592" y="347472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Analytical Units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403 stations; n = 3,383 LSOAs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700784" y="443484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07992" y="443484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315200" y="443484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10122408" y="443484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2929616" y="443484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700784" y="4558284"/>
            <a:ext cx="11228832" cy="0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0" y="4558284"/>
            <a:ext cx="0" cy="150876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365760" y="47091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MODE-SPECIFIC CLUSTERING AND CONTEXTUALISATION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65760" y="502920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GMM Clustering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selection: BIC + ARI + bootstrap stability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172968" y="502920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Post-clustering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Descriptors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Activity, direction, persistence, weekend ratio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980176" y="502920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LNWC Association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Cramer's V / permutation R2, enrichment ratios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87384" y="502920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Context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Kruskal-Wallis + eps-sq, 20 variables, BH-corrected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594592" y="5029200"/>
            <a:ext cx="2670048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Z-score Profiles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Mode-wide standardised mean comparison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700784" y="598932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4507992" y="598932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15200" y="598932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122408" y="598932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2929616" y="598932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700784" y="6112764"/>
            <a:ext cx="11228832" cy="0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15200" y="6112764"/>
            <a:ext cx="0" cy="150876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365760" y="6263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B4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AND CONTRIBUTION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365760" y="6583680"/>
            <a:ext cx="337185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Diagnostics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ARI, bootstrap, silhouette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874770" y="6583680"/>
            <a:ext cx="337185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Multiple-comparison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Benjamini-Hochberg (BH)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383780" y="6583680"/>
            <a:ext cx="337185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Ratios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z-score contrast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892790" y="6583680"/>
            <a:ext cx="337185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5875">
            <a:solidFill>
              <a:srgbClr val="7C93A6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Interpretive Boundaries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context is not passenger identity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051685" y="726948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5560695" y="726948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51" name="Shape 49"/>
          <p:cNvSpPr/>
          <p:nvPr/>
        </p:nvSpPr>
        <p:spPr>
          <a:xfrm>
            <a:off x="9069705" y="726948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12578715" y="7269480"/>
            <a:ext cx="0" cy="123444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2051685" y="7392924"/>
            <a:ext cx="10527030" cy="0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15200" y="7392924"/>
            <a:ext cx="0" cy="150876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  <a:tailEnd type="triangle"/>
          </a:ln>
        </p:spPr>
      </p:sp>
      <p:sp>
        <p:nvSpPr>
          <p:cNvPr id="55" name="Text 53"/>
          <p:cNvSpPr/>
          <p:nvPr/>
        </p:nvSpPr>
        <p:spPr>
          <a:xfrm>
            <a:off x="365760" y="7543800"/>
            <a:ext cx="3657600" cy="1234440"/>
          </a:xfrm>
          <a:prstGeom prst="roundRect">
            <a:avLst>
              <a:gd name="adj" fmla="val 5926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for RQ1-RQ2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206240" y="7543800"/>
            <a:ext cx="10058400" cy="1234440"/>
          </a:xfrm>
          <a:prstGeom prst="roundRect">
            <a:avLst>
              <a:gd name="adj" fmla="val 5926"/>
            </a:avLst>
          </a:prstGeom>
          <a:solidFill>
            <a:srgbClr val="DCE7EF"/>
          </a:solidFill>
          <a:ln w="15875">
            <a:solidFill>
              <a:srgbClr val="4A7A9E"/>
            </a:solidFill>
          </a:ln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Mode-specific night-time transport typologies, identified independently from temporal smart-card data alone, are externally contextualised through LNWC and area-level socio-spatial indicators - connecting observed night-time transport use to the geography of night work without inferring individual passenger identity.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023360" y="8161020"/>
            <a:ext cx="182880" cy="0"/>
          </a:xfrm>
          <a:prstGeom prst="line">
            <a:avLst/>
          </a:prstGeom>
          <a:noFill/>
          <a:ln w="19050">
            <a:solidFill>
              <a:srgbClr val="8FA3B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2026-08-16T13:36:31Z</dcterms:created>
  <dcterms:modified xsi:type="dcterms:W3CDTF">2026-08-16T13:36:31Z</dcterms:modified>
</cp:coreProperties>
</file>